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3" r:id="rId11"/>
    <p:sldId id="342" r:id="rId12"/>
    <p:sldId id="341" r:id="rId13"/>
    <p:sldId id="340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5033" autoAdjust="0"/>
  </p:normalViewPr>
  <p:slideViewPr>
    <p:cSldViewPr snapToGrid="0">
      <p:cViewPr varScale="1">
        <p:scale>
          <a:sx n="95" d="100"/>
          <a:sy n="95" d="100"/>
        </p:scale>
        <p:origin x="115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People by number of doctor visits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</c:v>
                </c:pt>
              </c:strCache>
            </c:strRef>
          </c:tx>
          <c:spPr>
            <a:solidFill>
              <a:srgbClr val="1F7AB8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4141</c:v>
                </c:pt>
                <c:pt idx="1">
                  <c:v>782</c:v>
                </c:pt>
                <c:pt idx="2">
                  <c:v>174</c:v>
                </c:pt>
                <c:pt idx="3">
                  <c:v>30</c:v>
                </c:pt>
                <c:pt idx="4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48-4942-BD2D-A8D1A92C38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404040"/>
                    </a:solidFill>
                  </a:rPr>
                  <a:t>Doctor visits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762.1499999999996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gender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2FBF9B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0.36</c:v>
                </c:pt>
                <c:pt idx="1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D5-42DD-8F4A-89681DFCF6C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1F7AB8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0.19–0.22</c:v>
                </c:pt>
                <c:pt idx="1">
                  <c:v>0.27–0.32</c:v>
                </c:pt>
                <c:pt idx="2">
                  <c:v>0.37–0.47</c:v>
                </c:pt>
                <c:pt idx="3">
                  <c:v>0.52–0.72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0.21</c:v>
                </c:pt>
                <c:pt idx="1">
                  <c:v>0.25</c:v>
                </c:pt>
                <c:pt idx="2">
                  <c:v>0.28000000000000003</c:v>
                </c:pt>
                <c:pt idx="3">
                  <c:v>0.43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B3-49EB-8C64-0C78ABC641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404040"/>
                    </a:solidFill>
                  </a:rPr>
                  <a:t>Age (stored as a decimal)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5500000000000000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income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2FBF9B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≤0.25</c:v>
                </c:pt>
                <c:pt idx="1">
                  <c:v>0.26–0.55</c:v>
                </c:pt>
                <c:pt idx="2">
                  <c:v>0.56–0.90</c:v>
                </c:pt>
                <c:pt idx="3">
                  <c:v>&gt;0.90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0.31</c:v>
                </c:pt>
                <c:pt idx="2">
                  <c:v>0.23</c:v>
                </c:pt>
                <c:pt idx="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33-4C66-A281-F6041F07ECF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404040"/>
                    </a:solidFill>
                  </a:rPr>
                  <a:t>Income level (lowest to highest)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number of illnesses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1F7AB8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0.08</c:v>
                </c:pt>
                <c:pt idx="1">
                  <c:v>0.3</c:v>
                </c:pt>
                <c:pt idx="2">
                  <c:v>0.4</c:v>
                </c:pt>
                <c:pt idx="3">
                  <c:v>0.42</c:v>
                </c:pt>
                <c:pt idx="4">
                  <c:v>0.57999999999999996</c:v>
                </c:pt>
                <c:pt idx="5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3A-4FDB-BCF3-038ADA21A9F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404040"/>
                    </a:solidFill>
                  </a:rPr>
                  <a:t>Illnesses reported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reduced-activity days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2FBF9B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1–2</c:v>
                </c:pt>
                <c:pt idx="2">
                  <c:v>3–5</c:v>
                </c:pt>
                <c:pt idx="3">
                  <c:v>6+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0.18</c:v>
                </c:pt>
                <c:pt idx="1">
                  <c:v>0.44</c:v>
                </c:pt>
                <c:pt idx="2">
                  <c:v>1.06</c:v>
                </c:pt>
                <c:pt idx="3">
                  <c:v>1.55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CF-419D-8375-851F1A2CA54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404040"/>
                    </a:solidFill>
                  </a:rPr>
                  <a:t>Days of reduced activity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chronic condition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1F7AB8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lchronic (long-term)</c:v>
                </c:pt>
                <c:pt idx="1">
                  <c:v>nchronic (chronic)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</c:v>
                </c:pt>
                <c:pt idx="1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B4-4FDC-A4C5-43C9EA9AE1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9AA8B4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lchronic (long-term)</c:v>
                </c:pt>
                <c:pt idx="1">
                  <c:v>nchronic (chronic)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0.26</c:v>
                </c:pt>
                <c:pt idx="1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B4-4FDC-A4C5-43C9EA9AE1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healthcare support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Has cover</c:v>
                </c:pt>
              </c:strCache>
            </c:strRef>
          </c:tx>
          <c:spPr>
            <a:solidFill>
              <a:srgbClr val="2FBF9B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Private</c:v>
                </c:pt>
                <c:pt idx="1">
                  <c:v>Free (poor)</c:v>
                </c:pt>
                <c:pt idx="2">
                  <c:v>Free (repat.)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0.28999999999999998</c:v>
                </c:pt>
                <c:pt idx="1">
                  <c:v>0.16</c:v>
                </c:pt>
                <c:pt idx="2">
                  <c:v>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C5-4223-BB23-9703A641FF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cover</c:v>
                </c:pt>
              </c:strCache>
            </c:strRef>
          </c:tx>
          <c:spPr>
            <a:solidFill>
              <a:srgbClr val="9AA8B4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Private</c:v>
                </c:pt>
                <c:pt idx="1">
                  <c:v>Free (poor)</c:v>
                </c:pt>
                <c:pt idx="2">
                  <c:v>Free (repat.)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0.31</c:v>
                </c:pt>
                <c:pt idx="1">
                  <c:v>0.31</c:v>
                </c:pt>
                <c:pt idx="2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C5-4223-BB23-9703A641FF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6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Correlation with number of visits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1F7AB8"/>
            </a:solidFill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86C0-4A08-969A-E940EF5D9866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86C0-4A08-969A-E940EF5D9866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86C0-4A08-969A-E940EF5D9866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86C0-4A08-969A-E940EF5D9866}"/>
              </c:ext>
            </c:extLst>
          </c:dPt>
          <c:dPt>
            <c:idx val="4"/>
            <c:invertIfNegative val="1"/>
            <c:bubble3D val="0"/>
            <c:spPr>
              <a:solidFill>
                <a:srgbClr val="9AA8B4"/>
              </a:solidFill>
            </c:spPr>
            <c:extLst>
              <c:ext xmlns:c16="http://schemas.microsoft.com/office/drawing/2014/chart" uri="{C3380CC4-5D6E-409C-BE32-E72D297353CC}">
                <c16:uniqueId val="{00000009-86C0-4A08-969A-E940EF5D986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Reduced-activity days</c:v>
                </c:pt>
                <c:pt idx="1">
                  <c:v>Illnesses</c:v>
                </c:pt>
                <c:pt idx="2">
                  <c:v>Health score</c:v>
                </c:pt>
                <c:pt idx="3">
                  <c:v>Age</c:v>
                </c:pt>
                <c:pt idx="4">
                  <c:v>Income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0.42</c:v>
                </c:pt>
                <c:pt idx="1">
                  <c:v>0.22</c:v>
                </c:pt>
                <c:pt idx="2">
                  <c:v>0.19</c:v>
                </c:pt>
                <c:pt idx="3">
                  <c:v>0.12</c:v>
                </c:pt>
                <c:pt idx="4">
                  <c:v>-0.08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6C0-4A08-969A-E940EF5D986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55000000000000004"/>
          <c:min val="-0.2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10/21/2026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10/21/2026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hammedqutbuddin/doctor-visits-healthcare-analyti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hammedqutbuddin/doctor-visits-healthcare-analyti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76791" y="3606671"/>
            <a:ext cx="4484536" cy="861497"/>
          </a:xfrm>
        </p:spPr>
        <p:txBody>
          <a:bodyPr>
            <a:norm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Mohd </a:t>
            </a:r>
            <a:r>
              <a:rPr lang="en-US" b="0" dirty="0" err="1">
                <a:solidFill>
                  <a:schemeClr val="tx1"/>
                </a:solidFill>
              </a:rPr>
              <a:t>Ikramuddin</a:t>
            </a:r>
            <a:r>
              <a:rPr lang="en-US" b="0" dirty="0">
                <a:solidFill>
                  <a:schemeClr val="tx1"/>
                </a:solidFill>
              </a:rPr>
              <a:t> Siddiqui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5129" y="1861904"/>
            <a:ext cx="8746434" cy="1788330"/>
          </a:xfrm>
        </p:spPr>
        <p:txBody>
          <a:bodyPr anchor="b">
            <a:normAutofit/>
          </a:bodyPr>
          <a:lstStyle/>
          <a:p>
            <a:pPr algn="r"/>
            <a:r>
              <a:rPr lang="en-GB" sz="3000" b="1" dirty="0"/>
              <a:t>Healthcare Analytics for Doctor Visits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B66F4C-86D6-68E0-9B27-B09C7D2A0826}"/>
              </a:ext>
            </a:extLst>
          </p:cNvPr>
          <p:cNvSpPr txBox="1"/>
          <p:nvPr/>
        </p:nvSpPr>
        <p:spPr>
          <a:xfrm>
            <a:off x="1080409" y="4019566"/>
            <a:ext cx="7291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AICTE ID : </a:t>
            </a:r>
            <a:r>
              <a:rPr lang="en-IN" dirty="0"/>
              <a:t>STU6a636722130d61784899362</a:t>
            </a:r>
          </a:p>
          <a:p>
            <a:endParaRPr lang="en-US" dirty="0"/>
          </a:p>
        </p:txBody>
      </p:sp>
      <p:sp>
        <p:nvSpPr>
          <p:cNvPr id="5" name="TextBox 4">
            <a:hlinkClick r:id="rId3"/>
            <a:extLst>
              <a:ext uri="{FF2B5EF4-FFF2-40B4-BE49-F238E27FC236}">
                <a16:creationId xmlns:a16="http://schemas.microsoft.com/office/drawing/2014/main" id="{12386384-675A-8282-AD78-4C30455ACE46}"/>
              </a:ext>
            </a:extLst>
          </p:cNvPr>
          <p:cNvSpPr txBox="1"/>
          <p:nvPr/>
        </p:nvSpPr>
        <p:spPr>
          <a:xfrm>
            <a:off x="1080409" y="4467444"/>
            <a:ext cx="871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https://github.com/MohdIkramuddin/doctor-visits-healthcare-analytic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2150000"/>
            <a:ext cx="6431280" cy="3607987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800" dirty="0"/>
              <a:t>Healthcare providers record who visits a doctor and how often, yet some people visit far more often than others and the reasons are not obvious from raw records.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800" dirty="0"/>
              <a:t>The problem is to analyse 5,190 patient records and uncover which factors – age, gender, income, illness, reduced-activity days, health status, chronic conditions and healthcare coverage – are associated with the number of doctor visits.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800" dirty="0"/>
              <a:t>Understanding these patterns helps identify high-need groups and supports better planning and decision-making.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r>
              <a:rPr lang="en-GB" dirty="0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Description"/>
          <p:cNvSpPr txBox="1"/>
          <p:nvPr/>
        </p:nvSpPr>
        <p:spPr>
          <a:xfrm>
            <a:off x="721359" y="2100000"/>
            <a:ext cx="7450000" cy="2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</a:rPr>
              <a:t>This project explores a healthcare dataset of 5,190 people to understand why some visit a doctor far more often than others. Each record combines personal details (gender, age), financial background (income), health status (illnesses, reduced-activity days, health score, chronic conditions), healthcare support (private cover, free-poor, free-repatriation) and the number of doctor visits. Using Python, the data is grouped, compared and correlated to show which factors are most associated with doctor visits.</a:t>
            </a:r>
          </a:p>
        </p:txBody>
      </p:sp>
      <p:sp>
        <p:nvSpPr>
          <p:cNvPr id="11" name="Stat card 1"/>
          <p:cNvSpPr/>
          <p:nvPr/>
        </p:nvSpPr>
        <p:spPr>
          <a:xfrm>
            <a:off x="721359" y="4500000"/>
            <a:ext cx="175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at 1"/>
          <p:cNvSpPr txBox="1"/>
          <p:nvPr/>
        </p:nvSpPr>
        <p:spPr>
          <a:xfrm>
            <a:off x="721359" y="4620000"/>
            <a:ext cx="1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7AB8"/>
                </a:solidFill>
              </a:rPr>
              <a:t>5,190</a:t>
            </a:r>
          </a:p>
        </p:txBody>
      </p:sp>
      <p:sp>
        <p:nvSpPr>
          <p:cNvPr id="13" name="Stat label 1"/>
          <p:cNvSpPr txBox="1"/>
          <p:nvPr/>
        </p:nvSpPr>
        <p:spPr>
          <a:xfrm>
            <a:off x="721359" y="5280000"/>
            <a:ext cx="17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04040"/>
                </a:solidFill>
              </a:rPr>
              <a:t>patient records</a:t>
            </a:r>
          </a:p>
        </p:txBody>
      </p:sp>
      <p:sp>
        <p:nvSpPr>
          <p:cNvPr id="14" name="Stat card 2"/>
          <p:cNvSpPr/>
          <p:nvPr/>
        </p:nvSpPr>
        <p:spPr>
          <a:xfrm>
            <a:off x="2621359" y="4500000"/>
            <a:ext cx="175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tat 2"/>
          <p:cNvSpPr txBox="1"/>
          <p:nvPr/>
        </p:nvSpPr>
        <p:spPr>
          <a:xfrm>
            <a:off x="2621359" y="4620000"/>
            <a:ext cx="1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7AB8"/>
                </a:solidFill>
              </a:rPr>
              <a:t>13</a:t>
            </a:r>
          </a:p>
        </p:txBody>
      </p:sp>
      <p:sp>
        <p:nvSpPr>
          <p:cNvPr id="16" name="Stat label 2"/>
          <p:cNvSpPr txBox="1"/>
          <p:nvPr/>
        </p:nvSpPr>
        <p:spPr>
          <a:xfrm>
            <a:off x="2621359" y="5280000"/>
            <a:ext cx="17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04040"/>
                </a:solidFill>
              </a:rPr>
              <a:t>columns in the dataset</a:t>
            </a:r>
          </a:p>
        </p:txBody>
      </p:sp>
      <p:sp>
        <p:nvSpPr>
          <p:cNvPr id="17" name="Stat card 3"/>
          <p:cNvSpPr/>
          <p:nvPr/>
        </p:nvSpPr>
        <p:spPr>
          <a:xfrm>
            <a:off x="4521359" y="4500000"/>
            <a:ext cx="175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tat 3"/>
          <p:cNvSpPr txBox="1"/>
          <p:nvPr/>
        </p:nvSpPr>
        <p:spPr>
          <a:xfrm>
            <a:off x="4521359" y="4620000"/>
            <a:ext cx="1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7AB8"/>
                </a:solidFill>
              </a:rPr>
              <a:t>80%</a:t>
            </a:r>
          </a:p>
        </p:txBody>
      </p:sp>
      <p:sp>
        <p:nvSpPr>
          <p:cNvPr id="19" name="Stat label 3"/>
          <p:cNvSpPr txBox="1"/>
          <p:nvPr/>
        </p:nvSpPr>
        <p:spPr>
          <a:xfrm>
            <a:off x="4521359" y="5280000"/>
            <a:ext cx="17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04040"/>
                </a:solidFill>
              </a:rPr>
              <a:t>people with zero visits</a:t>
            </a:r>
          </a:p>
        </p:txBody>
      </p:sp>
      <p:sp>
        <p:nvSpPr>
          <p:cNvPr id="20" name="Stat card 4"/>
          <p:cNvSpPr/>
          <p:nvPr/>
        </p:nvSpPr>
        <p:spPr>
          <a:xfrm>
            <a:off x="6421359" y="4500000"/>
            <a:ext cx="175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tat 4"/>
          <p:cNvSpPr txBox="1"/>
          <p:nvPr/>
        </p:nvSpPr>
        <p:spPr>
          <a:xfrm>
            <a:off x="6421359" y="4620000"/>
            <a:ext cx="1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7AB8"/>
                </a:solidFill>
              </a:rPr>
              <a:t>0–9</a:t>
            </a:r>
          </a:p>
        </p:txBody>
      </p:sp>
      <p:sp>
        <p:nvSpPr>
          <p:cNvPr id="22" name="Stat label 4"/>
          <p:cNvSpPr txBox="1"/>
          <p:nvPr/>
        </p:nvSpPr>
        <p:spPr>
          <a:xfrm>
            <a:off x="6421359" y="5280000"/>
            <a:ext cx="17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04040"/>
                </a:solidFill>
              </a:rPr>
              <a:t>visits per person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sz="2000" dirty="0"/>
              <a:t>Hospital administrators &amp; health planners – anticipate demand, staffing and resources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sz="2000" dirty="0"/>
              <a:t>Doctors &amp; clinical teams – spot high-need patient groups for proactive care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sz="2000" dirty="0"/>
              <a:t>Health insurers &amp; policy makers – see how coverage types relate to visits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sz="2000" dirty="0"/>
              <a:t>Public-health researchers &amp; students – a baseline for further analysis and modelling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800" dirty="0"/>
              <a:t>Python 3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800" dirty="0"/>
              <a:t>Pandas &amp; NumPy – data cleaning, grouping, correlation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800" dirty="0"/>
              <a:t>python-pptx – native, editable charts in this deck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800" dirty="0"/>
              <a:t>Microsoft PowerPoint – reporting and presentation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800" dirty="0"/>
              <a:t>CSV dataset – 5,190 records, 13 columns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8300000" cy="4775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Most people made no doctor visit at all</a:t>
            </a:r>
            <a:endParaRPr lang="en-IN" dirty="0"/>
          </a:p>
        </p:txBody>
      </p:sp>
      <p:sp>
        <p:nvSpPr>
          <p:cNvPr id="31" name="Takeaway"/>
          <p:cNvSpPr txBox="1"/>
          <p:nvPr/>
        </p:nvSpPr>
        <p:spPr>
          <a:xfrm>
            <a:off x="450000" y="5570000"/>
            <a:ext cx="8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5E8C"/>
                </a:solidFill>
              </a:rPr>
              <a:t>What it means: </a:t>
            </a:r>
            <a:r>
              <a:rPr sz="1400" b="0" i="0">
                <a:solidFill>
                  <a:srgbClr val="404040"/>
                </a:solidFill>
              </a:rPr>
              <a:t>only about 1 in 5 people saw a doctor; women averaged 1.5× more visits than men.</a:t>
            </a:r>
          </a:p>
        </p:txBody>
      </p:sp>
      <p:sp>
        <p:nvSpPr>
          <p:cNvPr id="32" name="Card L"/>
          <p:cNvSpPr/>
          <p:nvPr/>
        </p:nvSpPr>
        <p:spPr>
          <a:xfrm>
            <a:off x="45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ard R"/>
          <p:cNvSpPr/>
          <p:nvPr/>
        </p:nvSpPr>
        <p:spPr>
          <a:xfrm>
            <a:off x="610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4" name="Visits distribution"/>
          <p:cNvGraphicFramePr>
            <a:graphicFrameLocks noGrp="1"/>
          </p:cNvGraphicFramePr>
          <p:nvPr/>
        </p:nvGraphicFramePr>
        <p:xfrm>
          <a:off x="51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5" name="Visits by gender"/>
          <p:cNvGraphicFramePr>
            <a:graphicFrameLocks noGrp="1"/>
          </p:cNvGraphicFramePr>
          <p:nvPr/>
        </p:nvGraphicFramePr>
        <p:xfrm>
          <a:off x="616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8300000" cy="4775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Visits rise with age and fall as income grows</a:t>
            </a:r>
            <a:endParaRPr lang="en-IN" dirty="0"/>
          </a:p>
        </p:txBody>
      </p:sp>
      <p:sp>
        <p:nvSpPr>
          <p:cNvPr id="31" name="Takeaway"/>
          <p:cNvSpPr txBox="1"/>
          <p:nvPr/>
        </p:nvSpPr>
        <p:spPr>
          <a:xfrm>
            <a:off x="450000" y="5570000"/>
            <a:ext cx="8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5E8C"/>
                </a:solidFill>
              </a:rPr>
              <a:t>What it means: </a:t>
            </a:r>
            <a:r>
              <a:rPr sz="1400" b="0" i="0">
                <a:solidFill>
                  <a:srgbClr val="404040"/>
                </a:solidFill>
              </a:rPr>
              <a:t>the oldest group averages 0.43 visits, about 2× the youngest (0.21); the lowest-income group averages 0.40 vs 0.22 for the highest. Age and income overlap.</a:t>
            </a:r>
          </a:p>
        </p:txBody>
      </p:sp>
      <p:sp>
        <p:nvSpPr>
          <p:cNvPr id="32" name="Card L"/>
          <p:cNvSpPr/>
          <p:nvPr/>
        </p:nvSpPr>
        <p:spPr>
          <a:xfrm>
            <a:off x="45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ard R"/>
          <p:cNvSpPr/>
          <p:nvPr/>
        </p:nvSpPr>
        <p:spPr>
          <a:xfrm>
            <a:off x="610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4" name="Visits by age"/>
          <p:cNvGraphicFramePr>
            <a:graphicFrameLocks noGrp="1"/>
          </p:cNvGraphicFramePr>
          <p:nvPr/>
        </p:nvGraphicFramePr>
        <p:xfrm>
          <a:off x="51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5" name="Visits by income"/>
          <p:cNvGraphicFramePr>
            <a:graphicFrameLocks noGrp="1"/>
          </p:cNvGraphicFramePr>
          <p:nvPr/>
        </p:nvGraphicFramePr>
        <p:xfrm>
          <a:off x="616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8300000" cy="4775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Illness and lost activity days raise visits</a:t>
            </a:r>
            <a:endParaRPr lang="en-IN" dirty="0"/>
          </a:p>
        </p:txBody>
      </p:sp>
      <p:sp>
        <p:nvSpPr>
          <p:cNvPr id="31" name="Takeaway"/>
          <p:cNvSpPr txBox="1"/>
          <p:nvPr/>
        </p:nvSpPr>
        <p:spPr>
          <a:xfrm>
            <a:off x="450000" y="5570000"/>
            <a:ext cx="8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5E8C"/>
                </a:solidFill>
              </a:rPr>
              <a:t>What it means: </a:t>
            </a:r>
            <a:r>
              <a:rPr sz="1400" b="0" i="0">
                <a:solidFill>
                  <a:srgbClr val="404040"/>
                </a:solidFill>
              </a:rPr>
              <a:t>reduced-activity days show the strongest link to visits (correlation 0.42); people with 6+ lost days average 1.55 visits vs 0.18 for none – over 8× more.</a:t>
            </a:r>
          </a:p>
        </p:txBody>
      </p:sp>
      <p:sp>
        <p:nvSpPr>
          <p:cNvPr id="32" name="Card L"/>
          <p:cNvSpPr/>
          <p:nvPr/>
        </p:nvSpPr>
        <p:spPr>
          <a:xfrm>
            <a:off x="45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ard R"/>
          <p:cNvSpPr/>
          <p:nvPr/>
        </p:nvSpPr>
        <p:spPr>
          <a:xfrm>
            <a:off x="610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4" name="Visits by illness"/>
          <p:cNvGraphicFramePr>
            <a:graphicFrameLocks noGrp="1"/>
          </p:cNvGraphicFramePr>
          <p:nvPr/>
        </p:nvGraphicFramePr>
        <p:xfrm>
          <a:off x="51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5" name="Visits by reduced days"/>
          <p:cNvGraphicFramePr>
            <a:graphicFrameLocks noGrp="1"/>
          </p:cNvGraphicFramePr>
          <p:nvPr/>
        </p:nvGraphicFramePr>
        <p:xfrm>
          <a:off x="616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8300000" cy="4775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Chronic conditions and coverage shape visits</a:t>
            </a:r>
            <a:endParaRPr lang="en-IN" dirty="0"/>
          </a:p>
        </p:txBody>
      </p:sp>
      <p:sp>
        <p:nvSpPr>
          <p:cNvPr id="31" name="Takeaway"/>
          <p:cNvSpPr txBox="1"/>
          <p:nvPr/>
        </p:nvSpPr>
        <p:spPr>
          <a:xfrm>
            <a:off x="450000" y="5570000"/>
            <a:ext cx="8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5E8C"/>
                </a:solidFill>
              </a:rPr>
              <a:t>What it means: </a:t>
            </a:r>
            <a:r>
              <a:rPr sz="1400" b="0" i="0">
                <a:solidFill>
                  <a:srgbClr val="404040"/>
                </a:solidFill>
              </a:rPr>
              <a:t>people with a long-term chronic condition average 0.60 visits vs 0.26; free-repatriation cover averages 0.47 while free-poor cover averages 0.16. These are associations, not proof of cause.</a:t>
            </a:r>
          </a:p>
        </p:txBody>
      </p:sp>
      <p:sp>
        <p:nvSpPr>
          <p:cNvPr id="32" name="Card L"/>
          <p:cNvSpPr/>
          <p:nvPr/>
        </p:nvSpPr>
        <p:spPr>
          <a:xfrm>
            <a:off x="45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ard R"/>
          <p:cNvSpPr/>
          <p:nvPr/>
        </p:nvSpPr>
        <p:spPr>
          <a:xfrm>
            <a:off x="610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4" name="Visits by chronic"/>
          <p:cNvGraphicFramePr>
            <a:graphicFrameLocks noGrp="1"/>
          </p:cNvGraphicFramePr>
          <p:nvPr/>
        </p:nvGraphicFramePr>
        <p:xfrm>
          <a:off x="51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5" name="Visits by support"/>
          <p:cNvGraphicFramePr>
            <a:graphicFrameLocks noGrp="1"/>
          </p:cNvGraphicFramePr>
          <p:nvPr/>
        </p:nvGraphicFramePr>
        <p:xfrm>
          <a:off x="616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9" name="Title 3">
            <a:hlinkClick r:id="rId3"/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50000" y="5600000"/>
            <a:ext cx="9012052" cy="6179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u="sng" dirty="0">
                <a:solidFill>
                  <a:srgbClr val="0070C0"/>
                </a:solidFill>
              </a:rPr>
              <a:t>https://github.com/MohdIkramuddin/doctor-visits-healthcare-analytic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8300000" cy="4775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What drives doctor visits? Key takeaways</a:t>
            </a:r>
            <a:endParaRPr lang="en-IN" dirty="0"/>
          </a:p>
        </p:txBody>
      </p:sp>
      <p:sp>
        <p:nvSpPr>
          <p:cNvPr id="31" name="Card L"/>
          <p:cNvSpPr/>
          <p:nvPr/>
        </p:nvSpPr>
        <p:spPr>
          <a:xfrm>
            <a:off x="45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ard R"/>
          <p:cNvSpPr/>
          <p:nvPr/>
        </p:nvSpPr>
        <p:spPr>
          <a:xfrm>
            <a:off x="610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3" name="Correlation chart"/>
          <p:cNvGraphicFramePr>
            <a:graphicFrameLocks noGrp="1"/>
          </p:cNvGraphicFramePr>
          <p:nvPr/>
        </p:nvGraphicFramePr>
        <p:xfrm>
          <a:off x="51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Takeaways heading"/>
          <p:cNvSpPr txBox="1"/>
          <p:nvPr/>
        </p:nvSpPr>
        <p:spPr>
          <a:xfrm>
            <a:off x="6250000" y="2300000"/>
            <a:ext cx="51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235E8C"/>
                </a:solidFill>
              </a:rPr>
              <a:t>Key takeaways</a:t>
            </a:r>
          </a:p>
        </p:txBody>
      </p:sp>
      <p:sp>
        <p:nvSpPr>
          <p:cNvPr id="35" name="Takeaways"/>
          <p:cNvSpPr txBox="1"/>
          <p:nvPr/>
        </p:nvSpPr>
        <p:spPr>
          <a:xfrm>
            <a:off x="6250000" y="2750000"/>
            <a:ext cx="515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200"/>
              </a:spcAft>
              <a:buClr>
                <a:srgbClr val="1F7AB8"/>
              </a:buClr>
              <a:buChar char="•"/>
            </a:pPr>
            <a:r>
              <a:rPr sz="1600" b="0" i="0" dirty="0">
                <a:solidFill>
                  <a:srgbClr val="404040"/>
                </a:solidFill>
              </a:rPr>
              <a:t>80% of people had no doctor visit.</a:t>
            </a:r>
          </a:p>
          <a:p>
            <a:pPr marL="228600" indent="-228600">
              <a:spcAft>
                <a:spcPts val="1200"/>
              </a:spcAft>
              <a:buClr>
                <a:srgbClr val="1F7AB8"/>
              </a:buClr>
              <a:buChar char="•"/>
            </a:pPr>
            <a:r>
              <a:rPr sz="1600" b="0" i="0" dirty="0">
                <a:solidFill>
                  <a:srgbClr val="404040"/>
                </a:solidFill>
              </a:rPr>
              <a:t>Health need matters most: lost-activity days and illness count link most strongly to visits.</a:t>
            </a:r>
          </a:p>
          <a:p>
            <a:pPr marL="228600" indent="-228600">
              <a:spcAft>
                <a:spcPts val="1200"/>
              </a:spcAft>
              <a:buClr>
                <a:srgbClr val="1F7AB8"/>
              </a:buClr>
              <a:buChar char="•"/>
            </a:pPr>
            <a:r>
              <a:rPr sz="1600" b="0" i="0" dirty="0">
                <a:solidFill>
                  <a:srgbClr val="404040"/>
                </a:solidFill>
              </a:rPr>
              <a:t>Older people, lower incomes and women visit more.</a:t>
            </a:r>
          </a:p>
          <a:p>
            <a:pPr marL="228600" indent="-228600">
              <a:spcAft>
                <a:spcPts val="1200"/>
              </a:spcAft>
              <a:buClr>
                <a:srgbClr val="1F7AB8"/>
              </a:buClr>
              <a:buChar char="•"/>
            </a:pPr>
            <a:r>
              <a:rPr sz="1600" b="0" i="0" dirty="0">
                <a:solidFill>
                  <a:srgbClr val="404040"/>
                </a:solidFill>
              </a:rPr>
              <a:t>Long-term chronic conditions stand out; correlation is not causation.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31" y="1515961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611</Words>
  <Application>Microsoft Office PowerPoint</Application>
  <PresentationFormat>Widescreen</PresentationFormat>
  <Paragraphs>67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Wingdings 3</vt:lpstr>
      <vt:lpstr>Facet</vt:lpstr>
      <vt:lpstr>Healthcare Analytics for Doctor Visits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mohammmed ahmed muzakkir</cp:lastModifiedBy>
  <cp:revision>79</cp:revision>
  <dcterms:created xsi:type="dcterms:W3CDTF">2021-07-11T13:13:15Z</dcterms:created>
  <dcterms:modified xsi:type="dcterms:W3CDTF">2026-10-21T14:24:05Z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